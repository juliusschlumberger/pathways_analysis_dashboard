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tif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tif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712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5A4A44B-A585-0C4F-8B39-0250B82BAE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741"/>
          <a:stretch/>
        </p:blipFill>
        <p:spPr>
          <a:xfrm>
            <a:off x="831850" y="2452671"/>
            <a:ext cx="10958039" cy="440533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0582B6F-2384-8F4A-A822-3AE3ADC2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41420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0B4391D-5EBB-8349-A314-0B5F35318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84665"/>
            <a:ext cx="10515600" cy="1185693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9979495F-542B-C243-B8C1-8D2386FF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200" y="5503864"/>
            <a:ext cx="174625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BE454432-615E-48CC-9C65-E7B3262B3AA6}" type="datetimeFigureOut">
              <a:rPr lang="en-US" smtClean="0"/>
              <a:t>9/2/2024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592FFFC-5DA6-B940-A209-5BCA698C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459" y="298355"/>
            <a:ext cx="2121991" cy="931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115BCB-6F91-E547-AFB9-812BDA7FE3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719" y="6132608"/>
            <a:ext cx="812731" cy="54442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 Box 19">
            <a:extLst>
              <a:ext uri="{FF2B5EF4-FFF2-40B4-BE49-F238E27FC236}">
                <a16:creationId xmlns:a16="http://schemas.microsoft.com/office/drawing/2014/main" id="{9DEFE2F1-C878-1041-A5B1-78C9B3047035}"/>
              </a:ext>
            </a:extLst>
          </p:cNvPr>
          <p:cNvSpPr txBox="1"/>
          <p:nvPr/>
        </p:nvSpPr>
        <p:spPr>
          <a:xfrm>
            <a:off x="6406313" y="6132608"/>
            <a:ext cx="4068012" cy="54442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BE" sz="1050" dirty="0">
                <a:solidFill>
                  <a:schemeClr val="bg1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Times New Roman" panose="02020603050405020304" pitchFamily="18" charset="0"/>
              </a:rPr>
              <a:t>The MYRIAD-EU project has received funding from the European Union’s Horizon 2020 research and innovation programme call H2020-LC-CLA-2018-2019-2020 under grant agreement number 101003276</a:t>
            </a:r>
            <a:endParaRPr lang="en-BE" sz="1100" dirty="0">
              <a:solidFill>
                <a:schemeClr val="bg1"/>
              </a:solidFill>
              <a:effectLst/>
              <a:latin typeface="Gill Sans MT" panose="020B0502020104020203" pitchFamily="34" charset="77"/>
              <a:ea typeface="Gill Sans MT" panose="020B0502020104020203" pitchFamily="34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354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5A4A44B-A585-0C4F-8B39-0250B82BAE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741"/>
          <a:stretch/>
        </p:blipFill>
        <p:spPr>
          <a:xfrm>
            <a:off x="831850" y="2452671"/>
            <a:ext cx="10958039" cy="440533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0582B6F-2384-8F4A-A822-3AE3ADC2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41420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0B4391D-5EBB-8349-A314-0B5F35318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84665"/>
            <a:ext cx="10515600" cy="1185693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9979495F-542B-C243-B8C1-8D2386FF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200" y="5503864"/>
            <a:ext cx="174625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BE454432-615E-48CC-9C65-E7B3262B3AA6}" type="datetimeFigureOut">
              <a:rPr lang="en-US" smtClean="0"/>
              <a:t>9/2/2024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592FFFC-5DA6-B940-A209-5BCA698C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459" y="298355"/>
            <a:ext cx="2121991" cy="931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115BCB-6F91-E547-AFB9-812BDA7FE3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719" y="6132608"/>
            <a:ext cx="812731" cy="54442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 Box 19">
            <a:extLst>
              <a:ext uri="{FF2B5EF4-FFF2-40B4-BE49-F238E27FC236}">
                <a16:creationId xmlns:a16="http://schemas.microsoft.com/office/drawing/2014/main" id="{9DEFE2F1-C878-1041-A5B1-78C9B3047035}"/>
              </a:ext>
            </a:extLst>
          </p:cNvPr>
          <p:cNvSpPr txBox="1"/>
          <p:nvPr/>
        </p:nvSpPr>
        <p:spPr>
          <a:xfrm>
            <a:off x="6406313" y="6132608"/>
            <a:ext cx="4068012" cy="54442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BE" sz="1050" dirty="0">
                <a:solidFill>
                  <a:schemeClr val="bg1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Times New Roman" panose="02020603050405020304" pitchFamily="18" charset="0"/>
              </a:rPr>
              <a:t>The MYRIAD-EU project has received funding from the European Union’s Horizon 2020 research and innovation programme call H2020-LC-CLA-2018-2019-2020 under grant agreement number 101003276</a:t>
            </a:r>
            <a:endParaRPr lang="en-BE" sz="1100" dirty="0">
              <a:solidFill>
                <a:schemeClr val="bg1"/>
              </a:solidFill>
              <a:effectLst/>
              <a:latin typeface="Gill Sans MT" panose="020B0502020104020203" pitchFamily="34" charset="77"/>
              <a:ea typeface="Gill Sans MT" panose="020B0502020104020203" pitchFamily="34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61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5A4A44B-A585-0C4F-8B39-0250B82BAE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741"/>
          <a:stretch/>
        </p:blipFill>
        <p:spPr>
          <a:xfrm>
            <a:off x="831850" y="2452671"/>
            <a:ext cx="10958039" cy="440533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0582B6F-2384-8F4A-A822-3AE3ADC2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41420"/>
          </a:xfrm>
        </p:spPr>
        <p:txBody>
          <a:bodyPr anchor="b"/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0B4391D-5EBB-8349-A314-0B5F35318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84665"/>
            <a:ext cx="10515600" cy="1185693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9979495F-542B-C243-B8C1-8D2386FF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200" y="5503864"/>
            <a:ext cx="174625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BE454432-615E-48CC-9C65-E7B3262B3AA6}" type="datetimeFigureOut">
              <a:rPr lang="en-US" smtClean="0"/>
              <a:t>9/2/2024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592FFFC-5DA6-B940-A209-5BCA698C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25459" y="298355"/>
            <a:ext cx="2121991" cy="931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115BCB-6F91-E547-AFB9-812BDA7FE3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719" y="6132608"/>
            <a:ext cx="812731" cy="54442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 Box 19">
            <a:extLst>
              <a:ext uri="{FF2B5EF4-FFF2-40B4-BE49-F238E27FC236}">
                <a16:creationId xmlns:a16="http://schemas.microsoft.com/office/drawing/2014/main" id="{9DEFE2F1-C878-1041-A5B1-78C9B3047035}"/>
              </a:ext>
            </a:extLst>
          </p:cNvPr>
          <p:cNvSpPr txBox="1"/>
          <p:nvPr/>
        </p:nvSpPr>
        <p:spPr>
          <a:xfrm>
            <a:off x="6406313" y="6132608"/>
            <a:ext cx="4068012" cy="54442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BE" sz="1050" dirty="0">
                <a:solidFill>
                  <a:schemeClr val="tx1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Times New Roman" panose="02020603050405020304" pitchFamily="18" charset="0"/>
              </a:rPr>
              <a:t>The MYRIAD-EU project has received funding from the European Union’s Horizon 2020 research and innovation programme call H2020-LC-CLA-2018-2019-2020 under grant agreement number 101003276</a:t>
            </a:r>
            <a:endParaRPr lang="en-BE" sz="1100" dirty="0">
              <a:solidFill>
                <a:schemeClr val="tx1"/>
              </a:solidFill>
              <a:effectLst/>
              <a:latin typeface="Gill Sans MT" panose="020B0502020104020203" pitchFamily="34" charset="77"/>
              <a:ea typeface="Gill Sans MT" panose="020B0502020104020203" pitchFamily="34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30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A06B-FFA0-5246-9D6D-0CE2C0C4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D91F-ABC6-E74D-A0D1-ADFCBC5BE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E6B55-6400-A647-B030-B37B7E34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1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C180-1EBD-554F-BEA8-4C5A0F0D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356" y="2345532"/>
            <a:ext cx="9630410" cy="2203449"/>
          </a:xfrm>
        </p:spPr>
        <p:txBody>
          <a:bodyPr anchor="b"/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2A2D5-4847-8E4E-A23A-3B6E129E4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5356" y="4575969"/>
            <a:ext cx="9630410" cy="15001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97222B-F738-4B40-A28D-E88394AE0F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51862" y="288893"/>
            <a:ext cx="2121991" cy="931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267EA6-4F30-C247-B429-482543A23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427240"/>
            <a:ext cx="5277853" cy="129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05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2995-593C-7A44-AC5C-EE4D4520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E9CD-CE3C-5A40-A763-1A435DF22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CE7CC-B95E-B945-962E-6343085BC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72C8B-39C0-B848-8733-CB2002C7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7108" y="6481358"/>
            <a:ext cx="377783" cy="276999"/>
          </a:xfrm>
        </p:spPr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7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35FB-6DBB-5845-B2F3-C479F003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65125"/>
            <a:ext cx="1051877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65C42-3C7A-4843-8409-3D378D49D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81163"/>
            <a:ext cx="5160963" cy="823912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18C9B-0637-E643-8114-A9209D5BB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E6682-BE29-DA4F-9065-1515490AD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EDA672-527F-7E4C-BE72-F9CE651DA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61AD3-ABA8-3746-BDBD-C49AAD13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07802" y="6345219"/>
            <a:ext cx="2743200" cy="365125"/>
          </a:xfrm>
          <a:prstGeom prst="rect">
            <a:avLst/>
          </a:prstGeom>
        </p:spPr>
        <p:txBody>
          <a:bodyPr/>
          <a:lstStyle/>
          <a:p>
            <a:fld id="{BE454432-615E-48CC-9C65-E7B3262B3AA6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B974C-C933-8749-BD03-FD19F3F9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6017CA-1A25-EA4D-AAD2-701BB3A7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2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93B6-1558-AE49-8B73-921176FB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5004B-26F1-C94D-BD39-55372093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4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7401A-EC07-0247-AA83-3AC3CE5D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5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F15C-C852-FD47-BE3B-35157C7A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0271F-DAE6-4843-ADA4-920600889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611F1-08FF-6B47-A3A1-337AEDAA0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8B074-291D-8840-B4A7-D1E3223F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5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1886-ED78-FD45-A755-A9E2F4DB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C7C-9EB3-B941-ACC8-01776A9C3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5F5EE-B0DB-6149-A4A0-BD358CF2E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1934-649D-694B-8921-F1AA1C18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9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45B8-97C8-844E-9E7B-4048C3F1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C1E31-5FB7-7E40-9F94-F64FF7C74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980EF-01BD-7442-9F4F-82CE5EE0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8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D145F-2C3A-6F41-9848-C47FE920B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5ACF8-828E-4E4A-BF2C-350FD6463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E60E4-E7BA-CC4A-A787-A434897F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40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416DD-6EBD-A74F-B835-1049727D1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67A090-9825-ED4E-AB95-C7D97D9E33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26" t="-4825" b="-1"/>
          <a:stretch/>
        </p:blipFill>
        <p:spPr>
          <a:xfrm rot="8100000">
            <a:off x="7616901" y="651538"/>
            <a:ext cx="5721200" cy="3166417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589C1DE-FBEE-714B-AF3E-5C09066E3C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7095" y="1686677"/>
            <a:ext cx="2901365" cy="2901365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E95131-6A42-354D-A5E1-5F083C65D9B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8202" y="2427252"/>
            <a:ext cx="6765925" cy="5244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First name Last name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630208B-DDAE-D045-A3C4-0FB6A8A355F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1" y="3028488"/>
            <a:ext cx="6765925" cy="5244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Institute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8F7865DA-0D2A-0D41-AD7C-8DEE33C9849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3629723"/>
            <a:ext cx="6765925" cy="5244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Email address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1157F9-C2C5-8146-9223-2A0290D098BF}"/>
              </a:ext>
            </a:extLst>
          </p:cNvPr>
          <p:cNvSpPr txBox="1"/>
          <p:nvPr/>
        </p:nvSpPr>
        <p:spPr>
          <a:xfrm>
            <a:off x="838200" y="630031"/>
            <a:ext cx="68098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chemeClr val="accent2"/>
                </a:solidFill>
              </a:rPr>
              <a:t>Get in touch</a:t>
            </a:r>
          </a:p>
        </p:txBody>
      </p:sp>
    </p:spTree>
    <p:extLst>
      <p:ext uri="{BB962C8B-B14F-4D97-AF65-F5344CB8AC3E}">
        <p14:creationId xmlns:p14="http://schemas.microsoft.com/office/powerpoint/2010/main" val="2676748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oject attribu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5DB30FE-6910-3B4F-9AD6-3C009C026848}"/>
              </a:ext>
            </a:extLst>
          </p:cNvPr>
          <p:cNvSpPr txBox="1"/>
          <p:nvPr/>
        </p:nvSpPr>
        <p:spPr>
          <a:xfrm>
            <a:off x="5028103" y="3697249"/>
            <a:ext cx="394234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400" b="1" kern="1200" dirty="0" err="1">
                <a:solidFill>
                  <a:srgbClr val="712FF4"/>
                </a:solidFill>
                <a:latin typeface="+mj-lt"/>
                <a:ea typeface="+mj-ea"/>
                <a:cs typeface="+mj-cs"/>
              </a:rPr>
              <a:t>myriadproject</a:t>
            </a:r>
            <a:r>
              <a:rPr lang="en-GB" sz="3350" b="1" kern="1200" dirty="0" err="1">
                <a:solidFill>
                  <a:srgbClr val="712FF4"/>
                </a:solidFill>
                <a:latin typeface="+mj-lt"/>
                <a:ea typeface="+mj-ea"/>
                <a:cs typeface="+mj-cs"/>
              </a:rPr>
              <a:t>.eu</a:t>
            </a:r>
            <a:endParaRPr lang="en-GB" sz="3350" b="1" kern="1200" dirty="0">
              <a:solidFill>
                <a:srgbClr val="712FF4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EFBF1-25B3-2647-9EDA-6254404633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5629" y="1698201"/>
            <a:ext cx="4880741" cy="2143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8BB7C5-1C29-BD43-AB9C-0034F8DD86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628" y="5137820"/>
            <a:ext cx="812731" cy="54442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Text Box 19">
            <a:extLst>
              <a:ext uri="{FF2B5EF4-FFF2-40B4-BE49-F238E27FC236}">
                <a16:creationId xmlns:a16="http://schemas.microsoft.com/office/drawing/2014/main" id="{916CAFA8-057E-A146-978B-88970ED34E73}"/>
              </a:ext>
            </a:extLst>
          </p:cNvPr>
          <p:cNvSpPr txBox="1"/>
          <p:nvPr/>
        </p:nvSpPr>
        <p:spPr>
          <a:xfrm>
            <a:off x="4468359" y="5137821"/>
            <a:ext cx="4068012" cy="54442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BE" sz="1050" dirty="0">
                <a:solidFill>
                  <a:schemeClr val="tx1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Times New Roman" panose="02020603050405020304" pitchFamily="18" charset="0"/>
              </a:rPr>
              <a:t>The MYRIAD-EU project has received funding from the European Union’s Horizon 2020 research and innovation programme call H2020-LC-CLA-2018-2019-2020 under grant agreement number 101003276</a:t>
            </a:r>
            <a:endParaRPr lang="en-BE" sz="1100" dirty="0">
              <a:solidFill>
                <a:schemeClr val="tx1"/>
              </a:solidFill>
              <a:effectLst/>
              <a:latin typeface="Gill Sans MT" panose="020B0502020104020203" pitchFamily="34" charset="77"/>
              <a:ea typeface="Gill Sans MT" panose="020B0502020104020203" pitchFamily="34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30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D5C22-7168-9F4B-821A-7C2F894D5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DAD76-28D6-724E-92CB-5F9C8BBF1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21958-181F-324D-B7DD-055C318FC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7108" y="6421183"/>
            <a:ext cx="37778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GB" sz="1200" b="1" i="0" kern="1200" smtClean="0">
                <a:solidFill>
                  <a:schemeClr val="tx1"/>
                </a:solidFill>
                <a:effectLst/>
                <a:latin typeface="TwitterChirp"/>
                <a:ea typeface="+mn-ea"/>
                <a:cs typeface="+mn-cs"/>
              </a:defRPr>
            </a:lvl1pPr>
          </a:lstStyle>
          <a:p>
            <a:fld id="{B483D936-335A-4D89-9D3F-7B32D0B9AA0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C62897-32D1-AD49-8C05-D90105B2F0A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30384" y="6232871"/>
            <a:ext cx="1423416" cy="6251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92BCD7-C73C-4046-BA62-8781374E466C}"/>
              </a:ext>
            </a:extLst>
          </p:cNvPr>
          <p:cNvSpPr txBox="1"/>
          <p:nvPr/>
        </p:nvSpPr>
        <p:spPr>
          <a:xfrm>
            <a:off x="1964667" y="6460403"/>
            <a:ext cx="12255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i="0" dirty="0">
                <a:solidFill>
                  <a:schemeClr val="tx1"/>
                </a:solidFill>
                <a:effectLst/>
                <a:latin typeface="TwitterChirp"/>
              </a:rPr>
              <a:t>@</a:t>
            </a:r>
            <a:r>
              <a:rPr lang="en-GB" sz="1400" b="1" i="0" dirty="0" err="1">
                <a:solidFill>
                  <a:schemeClr val="tx1"/>
                </a:solidFill>
                <a:effectLst/>
                <a:latin typeface="TwitterChirp"/>
              </a:rPr>
              <a:t>Myriad_EU</a:t>
            </a:r>
            <a:endParaRPr lang="en-GB" sz="1400" b="1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6ECAD5-8626-1141-B038-2F1061E9549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" y="6470562"/>
            <a:ext cx="1126467" cy="277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8E0FD3-0984-B44E-BD13-348185A286C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35442" y="6540262"/>
            <a:ext cx="194299" cy="15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1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SzPct val="50000"/>
        <a:buFontTx/>
        <a:buBlip>
          <a:blip r:embed="rId20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50000"/>
        <a:buFontTx/>
        <a:buBlip>
          <a:blip r:embed="rId20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40000"/>
        <a:buFontTx/>
        <a:buBlip>
          <a:blip r:embed="rId20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30000"/>
        <a:buFontTx/>
        <a:buBlip>
          <a:blip r:embed="rId20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30000"/>
        <a:buFontTx/>
        <a:buBlip>
          <a:blip r:embed="rId20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6047-4588-3C24-33AB-CFFCBDAE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2F5C4-D614-4980-7D97-51855D982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43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5544-E588-9DBA-5113-35437838C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D4331-DFC9-36EC-26F3-255E69ECE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5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773B3D7-0970-35E0-AD54-803495053DD3}"/>
              </a:ext>
            </a:extLst>
          </p:cNvPr>
          <p:cNvSpPr>
            <a:spLocks noChangeAspect="1"/>
          </p:cNvSpPr>
          <p:nvPr/>
        </p:nvSpPr>
        <p:spPr>
          <a:xfrm>
            <a:off x="2527442" y="172092"/>
            <a:ext cx="6513816" cy="6513816"/>
          </a:xfrm>
          <a:prstGeom prst="ellipse">
            <a:avLst/>
          </a:prstGeom>
          <a:solidFill>
            <a:schemeClr val="accent4"/>
          </a:solidFill>
          <a:ln w="139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BA04CA-E33A-5D33-BB4A-554B10B33FF1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679700" y="3547517"/>
            <a:ext cx="1513031" cy="0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2987785-BEA6-C022-52AC-991EF9E27EE7}"/>
              </a:ext>
            </a:extLst>
          </p:cNvPr>
          <p:cNvSpPr>
            <a:spLocks noChangeAspect="1"/>
          </p:cNvSpPr>
          <p:nvPr/>
        </p:nvSpPr>
        <p:spPr>
          <a:xfrm>
            <a:off x="4192731" y="3223517"/>
            <a:ext cx="648000" cy="648000"/>
          </a:xfrm>
          <a:prstGeom prst="ellipse">
            <a:avLst/>
          </a:prstGeom>
          <a:noFill/>
          <a:ln w="1746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8EA3B0-A800-D302-C0A2-EC4E60AE8E68}"/>
              </a:ext>
            </a:extLst>
          </p:cNvPr>
          <p:cNvCxnSpPr>
            <a:cxnSpLocks/>
            <a:stCxn id="9" idx="0"/>
            <a:endCxn id="16" idx="4"/>
          </p:cNvCxnSpPr>
          <p:nvPr/>
        </p:nvCxnSpPr>
        <p:spPr>
          <a:xfrm flipV="1">
            <a:off x="4516731" y="1979784"/>
            <a:ext cx="0" cy="1243733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F3D0D4-EE2E-22C2-E295-A9CC39960710}"/>
              </a:ext>
            </a:extLst>
          </p:cNvPr>
          <p:cNvCxnSpPr>
            <a:cxnSpLocks/>
            <a:stCxn id="18" idx="0"/>
            <a:endCxn id="9" idx="4"/>
          </p:cNvCxnSpPr>
          <p:nvPr/>
        </p:nvCxnSpPr>
        <p:spPr>
          <a:xfrm flipV="1">
            <a:off x="4516731" y="3871517"/>
            <a:ext cx="0" cy="1060367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EB7D133-1A09-3BFB-CFE4-D3518F3C5EF9}"/>
              </a:ext>
            </a:extLst>
          </p:cNvPr>
          <p:cNvSpPr>
            <a:spLocks noChangeAspect="1"/>
          </p:cNvSpPr>
          <p:nvPr/>
        </p:nvSpPr>
        <p:spPr>
          <a:xfrm>
            <a:off x="4192731" y="1331784"/>
            <a:ext cx="648000" cy="648000"/>
          </a:xfrm>
          <a:prstGeom prst="ellipse">
            <a:avLst/>
          </a:prstGeom>
          <a:solidFill>
            <a:schemeClr val="bg1"/>
          </a:solidFill>
          <a:ln w="1746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9998B7-9B74-67FB-0C33-82AEFA6DABAD}"/>
              </a:ext>
            </a:extLst>
          </p:cNvPr>
          <p:cNvSpPr>
            <a:spLocks noChangeAspect="1"/>
          </p:cNvSpPr>
          <p:nvPr/>
        </p:nvSpPr>
        <p:spPr>
          <a:xfrm>
            <a:off x="4192731" y="4931884"/>
            <a:ext cx="648000" cy="648000"/>
          </a:xfrm>
          <a:prstGeom prst="ellipse">
            <a:avLst/>
          </a:prstGeom>
          <a:solidFill>
            <a:schemeClr val="bg1"/>
          </a:solidFill>
          <a:ln w="1746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AD2DAD-0061-6B5F-F123-8FFED6E42961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>
          <a:xfrm flipV="1">
            <a:off x="4840731" y="1655783"/>
            <a:ext cx="1971911" cy="1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49BBD0E-95FF-4857-6358-5E8B76B8A0DA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4840731" y="5255884"/>
            <a:ext cx="3325369" cy="0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76EFECB-5961-C55D-1C18-304133AFBBCD}"/>
              </a:ext>
            </a:extLst>
          </p:cNvPr>
          <p:cNvSpPr>
            <a:spLocks noChangeAspect="1"/>
          </p:cNvSpPr>
          <p:nvPr/>
        </p:nvSpPr>
        <p:spPr>
          <a:xfrm>
            <a:off x="6812642" y="1331783"/>
            <a:ext cx="648000" cy="648000"/>
          </a:xfrm>
          <a:prstGeom prst="ellipse">
            <a:avLst/>
          </a:prstGeom>
          <a:noFill/>
          <a:ln w="1746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F34059-04D2-C572-3365-AD97A3D30353}"/>
              </a:ext>
            </a:extLst>
          </p:cNvPr>
          <p:cNvCxnSpPr>
            <a:cxnSpLocks/>
            <a:stCxn id="28" idx="0"/>
            <a:endCxn id="24" idx="4"/>
          </p:cNvCxnSpPr>
          <p:nvPr/>
        </p:nvCxnSpPr>
        <p:spPr>
          <a:xfrm flipV="1">
            <a:off x="7136641" y="1979783"/>
            <a:ext cx="1" cy="365294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2886679E-D2A1-DD55-5858-B178091A0154}"/>
              </a:ext>
            </a:extLst>
          </p:cNvPr>
          <p:cNvSpPr>
            <a:spLocks noChangeAspect="1"/>
          </p:cNvSpPr>
          <p:nvPr/>
        </p:nvSpPr>
        <p:spPr>
          <a:xfrm>
            <a:off x="6812641" y="2345077"/>
            <a:ext cx="648000" cy="648000"/>
          </a:xfrm>
          <a:prstGeom prst="ellipse">
            <a:avLst/>
          </a:prstGeom>
          <a:solidFill>
            <a:schemeClr val="bg1"/>
          </a:solidFill>
          <a:ln w="1746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A218DFB-863B-AC86-FBF1-44BE6AE6D211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7460641" y="2669077"/>
            <a:ext cx="1315059" cy="0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9704C6B-D76C-A854-365B-7E0F966E41B5}"/>
              </a:ext>
            </a:extLst>
          </p:cNvPr>
          <p:cNvCxnSpPr>
            <a:cxnSpLocks/>
            <a:stCxn id="9" idx="6"/>
            <a:endCxn id="37" idx="2"/>
          </p:cNvCxnSpPr>
          <p:nvPr/>
        </p:nvCxnSpPr>
        <p:spPr>
          <a:xfrm>
            <a:off x="4840731" y="3547517"/>
            <a:ext cx="1208200" cy="0"/>
          </a:xfrm>
          <a:prstGeom prst="line">
            <a:avLst/>
          </a:prstGeom>
          <a:ln w="17462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050492C-AF2C-9B16-2893-8801D6C6A35D}"/>
              </a:ext>
            </a:extLst>
          </p:cNvPr>
          <p:cNvSpPr>
            <a:spLocks noChangeAspect="1"/>
          </p:cNvSpPr>
          <p:nvPr/>
        </p:nvSpPr>
        <p:spPr>
          <a:xfrm>
            <a:off x="6048931" y="3223517"/>
            <a:ext cx="648000" cy="648000"/>
          </a:xfrm>
          <a:prstGeom prst="ellipse">
            <a:avLst/>
          </a:prstGeom>
          <a:noFill/>
          <a:ln w="1746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515824-1687-DA24-C6D8-2C9FEA698B9B}"/>
              </a:ext>
            </a:extLst>
          </p:cNvPr>
          <p:cNvCxnSpPr>
            <a:cxnSpLocks/>
            <a:stCxn id="41" idx="0"/>
            <a:endCxn id="37" idx="4"/>
          </p:cNvCxnSpPr>
          <p:nvPr/>
        </p:nvCxnSpPr>
        <p:spPr>
          <a:xfrm flipH="1" flipV="1">
            <a:off x="6372931" y="3871517"/>
            <a:ext cx="17126" cy="1104032"/>
          </a:xfrm>
          <a:prstGeom prst="line">
            <a:avLst/>
          </a:prstGeom>
          <a:ln w="174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AFB9EA8-1249-D38F-E6F9-8A7690F521AB}"/>
              </a:ext>
            </a:extLst>
          </p:cNvPr>
          <p:cNvSpPr>
            <a:spLocks noChangeAspect="1"/>
          </p:cNvSpPr>
          <p:nvPr/>
        </p:nvSpPr>
        <p:spPr>
          <a:xfrm>
            <a:off x="6066057" y="4975549"/>
            <a:ext cx="648000" cy="648000"/>
          </a:xfrm>
          <a:prstGeom prst="ellipse">
            <a:avLst/>
          </a:prstGeom>
          <a:solidFill>
            <a:schemeClr val="bg1"/>
          </a:solidFill>
          <a:ln w="1746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08606"/>
      </p:ext>
    </p:extLst>
  </p:cSld>
  <p:clrMapOvr>
    <a:masterClrMapping/>
  </p:clrMapOvr>
</p:sld>
</file>

<file path=ppt/theme/theme1.xml><?xml version="1.0" encoding="utf-8"?>
<a:theme xmlns:a="http://schemas.openxmlformats.org/drawingml/2006/main" name="MYRIAD">
  <a:themeElements>
    <a:clrScheme name="MYRIAD-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0091"/>
      </a:accent1>
      <a:accent2>
        <a:srgbClr val="374CFF"/>
      </a:accent2>
      <a:accent3>
        <a:srgbClr val="8836EA"/>
      </a:accent3>
      <a:accent4>
        <a:srgbClr val="DB20D2"/>
      </a:accent4>
      <a:accent5>
        <a:srgbClr val="FFCE00"/>
      </a:accent5>
      <a:accent6>
        <a:srgbClr val="59E25E"/>
      </a:accent6>
      <a:hlink>
        <a:srgbClr val="374CFF"/>
      </a:hlink>
      <a:folHlink>
        <a:srgbClr val="8836EA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RIAD" id="{AF6B2DB6-7406-48CA-8C09-E246BC3595BB}" vid="{C1B83218-C4C2-4F0E-B33F-A1F2F7A0EA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MYRIAD</Template>
  <TotalTime>21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Franklin Gothic Book</vt:lpstr>
      <vt:lpstr>Franklin Gothic Medium</vt:lpstr>
      <vt:lpstr>Gill Sans MT</vt:lpstr>
      <vt:lpstr>TwitterChirp</vt:lpstr>
      <vt:lpstr>MYRIAD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Julius Schlumberger</dc:creator>
  <cp:lastModifiedBy>Julius Schlumberger</cp:lastModifiedBy>
  <cp:revision>1</cp:revision>
  <dcterms:created xsi:type="dcterms:W3CDTF">2024-09-02T09:30:26Z</dcterms:created>
  <dcterms:modified xsi:type="dcterms:W3CDTF">2024-09-02T09:51:29Z</dcterms:modified>
</cp:coreProperties>
</file>